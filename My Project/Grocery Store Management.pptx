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5" r:id="rId3"/>
    <p:sldId id="271" r:id="rId4"/>
    <p:sldId id="260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57" r:id="rId14"/>
    <p:sldId id="272" r:id="rId15"/>
    <p:sldId id="273" r:id="rId16"/>
    <p:sldId id="274" r:id="rId17"/>
    <p:sldId id="259" r:id="rId18"/>
  </p:sldIdLst>
  <p:sldSz cx="12192000" cy="6858000"/>
  <p:notesSz cx="6858000" cy="9144000"/>
  <p:embeddedFontLst>
    <p:embeddedFont>
      <p:font typeface="Libre Baskerville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C47513E-2148-4A39-A0A8-3730E3543E4A}">
          <p14:sldIdLst>
            <p14:sldId id="256"/>
            <p14:sldId id="265"/>
            <p14:sldId id="271"/>
            <p14:sldId id="260"/>
            <p14:sldId id="262"/>
            <p14:sldId id="263"/>
            <p14:sldId id="264"/>
            <p14:sldId id="266"/>
            <p14:sldId id="267"/>
            <p14:sldId id="268"/>
            <p14:sldId id="269"/>
            <p14:sldId id="270"/>
            <p14:sldId id="257"/>
            <p14:sldId id="272"/>
            <p14:sldId id="273"/>
            <p14:sldId id="274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747" y="9832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566218" y="2767300"/>
            <a:ext cx="6749751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40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40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Grocery Store Management</a:t>
            </a:r>
            <a:endParaRPr sz="4000" b="1" i="0" u="none" strike="noStrike" cap="none" dirty="0">
              <a:solidFill>
                <a:schemeClr val="accent1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27401-2743-39B2-1A35-DAB0F545081B}"/>
              </a:ext>
            </a:extLst>
          </p:cNvPr>
          <p:cNvSpPr txBox="1"/>
          <p:nvPr/>
        </p:nvSpPr>
        <p:spPr>
          <a:xfrm>
            <a:off x="8000904" y="4552337"/>
            <a:ext cx="26301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Presented By:</a:t>
            </a:r>
          </a:p>
          <a:p>
            <a:r>
              <a:rPr lang="en-IN" sz="2800" b="1" dirty="0">
                <a:solidFill>
                  <a:srgbClr val="002060"/>
                </a:solidFill>
              </a:rPr>
              <a:t>Shaik Abidh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7FA0EA-7915-2E69-54DE-93DA3286B960}"/>
              </a:ext>
            </a:extLst>
          </p:cNvPr>
          <p:cNvSpPr txBox="1"/>
          <p:nvPr/>
        </p:nvSpPr>
        <p:spPr>
          <a:xfrm>
            <a:off x="516194" y="290052"/>
            <a:ext cx="3279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About Me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3EDA9-9BC2-AE51-2FC9-DFB3F7A504E9}"/>
              </a:ext>
            </a:extLst>
          </p:cNvPr>
          <p:cNvSpPr txBox="1"/>
          <p:nvPr/>
        </p:nvSpPr>
        <p:spPr>
          <a:xfrm>
            <a:off x="462116" y="1307689"/>
            <a:ext cx="6400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Name: Shaik Abidh</a:t>
            </a:r>
          </a:p>
          <a:p>
            <a:endParaRPr lang="en-US" sz="2400" dirty="0"/>
          </a:p>
          <a:p>
            <a:r>
              <a:rPr lang="en-US" sz="2400" dirty="0"/>
              <a:t>Education: B Tech CSE </a:t>
            </a:r>
          </a:p>
          <a:p>
            <a:endParaRPr lang="en-US" sz="2400" dirty="0"/>
          </a:p>
          <a:p>
            <a:r>
              <a:rPr lang="en-US" sz="2400" dirty="0"/>
              <a:t>Batch no: 477</a:t>
            </a:r>
          </a:p>
          <a:p>
            <a:endParaRPr lang="en-US" sz="2400" dirty="0"/>
          </a:p>
          <a:p>
            <a:r>
              <a:rPr lang="en-US" sz="2400" dirty="0"/>
              <a:t>Enrollment ID: 81021000425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08355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513076-66E2-6AE2-298A-7536DF635D5C}"/>
              </a:ext>
            </a:extLst>
          </p:cNvPr>
          <p:cNvSpPr txBox="1"/>
          <p:nvPr/>
        </p:nvSpPr>
        <p:spPr>
          <a:xfrm>
            <a:off x="516194" y="191729"/>
            <a:ext cx="4301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Agenda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275DD-E4AC-F8FA-0E1D-462D29627FAE}"/>
              </a:ext>
            </a:extLst>
          </p:cNvPr>
          <p:cNvSpPr txBox="1"/>
          <p:nvPr/>
        </p:nvSpPr>
        <p:spPr>
          <a:xfrm>
            <a:off x="516194" y="1007806"/>
            <a:ext cx="922757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Introduction to Dataset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Objective of the Project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Dataset Overview</a:t>
            </a:r>
            <a:r>
              <a:rPr lang="en-IN" sz="2000" dirty="0"/>
              <a:t> (Suppliers, Categories, Employees, Customers, Products, Orders, Order Details)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ER Diagram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Key Analysis Questions</a:t>
            </a: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SQL Analysis &amp; Findings</a:t>
            </a: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Insights &amp; Conclusion</a:t>
            </a: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Challenges Faced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3175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6897-2510-BEFC-D339-AC78AA44F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1" y="344130"/>
            <a:ext cx="10515600" cy="37316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1.Which customers have placed the highest number of orders?</a:t>
            </a:r>
            <a:endParaRPr lang="en-IN" sz="20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7FE4C5-DABD-24D4-99D4-A085D1FA1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26" y="1723199"/>
            <a:ext cx="7395006" cy="12543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924CB2-4A75-D80D-D459-AC0FF4538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747" y="1810670"/>
            <a:ext cx="3204380" cy="3053229"/>
          </a:xfrm>
          <a:prstGeom prst="rect">
            <a:avLst/>
          </a:prstGeom>
        </p:spPr>
      </p:pic>
      <p:sp>
        <p:nvSpPr>
          <p:cNvPr id="15" name="Rectangle 7">
            <a:extLst>
              <a:ext uri="{FF2B5EF4-FFF2-40B4-BE49-F238E27FC236}">
                <a16:creationId xmlns:a16="http://schemas.microsoft.com/office/drawing/2014/main" id="{54B458A0-41EF-3A3A-B479-0BEDF7425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71" y="3880421"/>
            <a:ext cx="721176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Jyotika is the top customer with the highest orders (7), followed by Aditi Rao (6).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Several customers consistently placed 5 orders, forming a strong repeat customer base.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 name (Chetan Rao) suggests either multiple customers or a data quality issue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0F8715-2AE3-A3E5-0157-2A064172D62A}"/>
              </a:ext>
            </a:extLst>
          </p:cNvPr>
          <p:cNvSpPr txBox="1"/>
          <p:nvPr/>
        </p:nvSpPr>
        <p:spPr>
          <a:xfrm flipH="1">
            <a:off x="668594" y="1050176"/>
            <a:ext cx="1238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Query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0D5874-DC49-8062-9382-85E5C8FC835B}"/>
              </a:ext>
            </a:extLst>
          </p:cNvPr>
          <p:cNvSpPr txBox="1"/>
          <p:nvPr/>
        </p:nvSpPr>
        <p:spPr>
          <a:xfrm>
            <a:off x="7705832" y="959139"/>
            <a:ext cx="2551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142566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8D4C33-BE84-D85A-F952-21EBF96C6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40" y="2316045"/>
            <a:ext cx="6879755" cy="17796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945D4E-735E-C40F-82A6-09E41ED96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568" y="2316045"/>
            <a:ext cx="3281148" cy="311827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BF350FF-372D-27D1-3645-9F3E867E0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2.Total and Average Purchase value per customer?</a:t>
            </a:r>
            <a:endParaRPr lang="en-IN" sz="2000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39A5A-ED72-DF39-E187-FD2541F5EACF}"/>
              </a:ext>
            </a:extLst>
          </p:cNvPr>
          <p:cNvSpPr txBox="1"/>
          <p:nvPr/>
        </p:nvSpPr>
        <p:spPr>
          <a:xfrm>
            <a:off x="393289" y="1585440"/>
            <a:ext cx="132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Query</a:t>
            </a:r>
            <a:endParaRPr lang="en-IN" sz="20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30357-DC79-60A2-3E8C-2730E7C367B6}"/>
              </a:ext>
            </a:extLst>
          </p:cNvPr>
          <p:cNvSpPr txBox="1"/>
          <p:nvPr/>
        </p:nvSpPr>
        <p:spPr>
          <a:xfrm>
            <a:off x="7630568" y="1631606"/>
            <a:ext cx="1892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Output</a:t>
            </a:r>
            <a:endParaRPr lang="en-IN" sz="20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146C8E-82D1-0004-7D41-0858E9D9A659}"/>
              </a:ext>
            </a:extLst>
          </p:cNvPr>
          <p:cNvSpPr txBox="1"/>
          <p:nvPr/>
        </p:nvSpPr>
        <p:spPr>
          <a:xfrm>
            <a:off x="393289" y="4263840"/>
            <a:ext cx="64106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Eshwar Iyer is the top spender overall</a:t>
            </a:r>
            <a:r>
              <a:rPr lang="en-IN" dirty="0"/>
              <a:t>, showing the highest total purchase value (Total _ Spent) across all customers.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Isha Rao records the highest average order value</a:t>
            </a:r>
            <a:r>
              <a:rPr lang="en-IN" dirty="0"/>
              <a:t> (</a:t>
            </a:r>
            <a:r>
              <a:rPr lang="en-IN" dirty="0" err="1"/>
              <a:t>Avg_Order</a:t>
            </a:r>
            <a:r>
              <a:rPr lang="en-IN" dirty="0"/>
              <a:t> _Value), despite not leading in total spend — meaning fewer orders, but each of higher value.</a:t>
            </a:r>
          </a:p>
        </p:txBody>
      </p:sp>
    </p:spTree>
    <p:extLst>
      <p:ext uri="{BB962C8B-B14F-4D97-AF65-F5344CB8AC3E}">
        <p14:creationId xmlns:p14="http://schemas.microsoft.com/office/powerpoint/2010/main" val="3029975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2045-914F-D99D-3739-7B9F2348E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4578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3.Highest Sales Volume (by quantity</a:t>
            </a:r>
            <a:r>
              <a:rPr lang="en-US" sz="2000" b="1" dirty="0"/>
              <a:t>)</a:t>
            </a:r>
            <a:endParaRPr lang="en-IN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075EF-0740-BBF9-27EE-BDE884D12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29" y="2098288"/>
            <a:ext cx="5127347" cy="17264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ACB8DA-31BB-4463-E821-224EA4AAD160}"/>
              </a:ext>
            </a:extLst>
          </p:cNvPr>
          <p:cNvSpPr txBox="1"/>
          <p:nvPr/>
        </p:nvSpPr>
        <p:spPr>
          <a:xfrm>
            <a:off x="798871" y="1342103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Query</a:t>
            </a:r>
            <a:endParaRPr lang="en-IN" sz="20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0F024A-D70E-0DD7-1357-142C19A3DA40}"/>
              </a:ext>
            </a:extLst>
          </p:cNvPr>
          <p:cNvSpPr txBox="1"/>
          <p:nvPr/>
        </p:nvSpPr>
        <p:spPr>
          <a:xfrm>
            <a:off x="7221794" y="1322439"/>
            <a:ext cx="1253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Output</a:t>
            </a:r>
            <a:endParaRPr lang="en-IN" sz="2000" b="1" u="sn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4D507C-60EB-C19F-16F0-2BD65EF11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863" y="1976282"/>
            <a:ext cx="3507707" cy="22417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2B5E15-D920-E4F6-A3C2-E62CDC4CA917}"/>
              </a:ext>
            </a:extLst>
          </p:cNvPr>
          <p:cNvSpPr txBox="1"/>
          <p:nvPr/>
        </p:nvSpPr>
        <p:spPr>
          <a:xfrm>
            <a:off x="341671" y="4218037"/>
            <a:ext cx="63934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Bath Soap leads with 60 units sold, closely followed by Hand Sanitizer (56), and a tight cluster of Biscuits, Potato Chips, and Dishwashing Soap tied at 54 units each.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The top 5 products by volume are all everyday essentials, indicating high-frequency, repeat-purchase items drive unit sales more than premium products.</a:t>
            </a:r>
          </a:p>
        </p:txBody>
      </p:sp>
    </p:spTree>
    <p:extLst>
      <p:ext uri="{BB962C8B-B14F-4D97-AF65-F5344CB8AC3E}">
        <p14:creationId xmlns:p14="http://schemas.microsoft.com/office/powerpoint/2010/main" val="468743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EE062-246D-2318-9CE5-5EA1E979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0" y="-135466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4.Total revenue generated by each product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D596B-9604-BEDF-D47E-DD420A127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62" y="2051535"/>
            <a:ext cx="4952579" cy="15569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874880-E8F6-B17B-436C-793CA6533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260" y="2041703"/>
            <a:ext cx="2674371" cy="26384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F9B46A-9BE1-70BC-E66B-8D0D11B8C5D7}"/>
              </a:ext>
            </a:extLst>
          </p:cNvPr>
          <p:cNvSpPr txBox="1"/>
          <p:nvPr/>
        </p:nvSpPr>
        <p:spPr>
          <a:xfrm>
            <a:off x="929148" y="1420761"/>
            <a:ext cx="1755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Query</a:t>
            </a:r>
            <a:endParaRPr lang="en-IN" sz="20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5A953-1060-1076-B028-D32E5793A15C}"/>
              </a:ext>
            </a:extLst>
          </p:cNvPr>
          <p:cNvSpPr txBox="1"/>
          <p:nvPr/>
        </p:nvSpPr>
        <p:spPr>
          <a:xfrm>
            <a:off x="7339781" y="1415845"/>
            <a:ext cx="1867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Output</a:t>
            </a:r>
            <a:endParaRPr lang="en-IN" sz="20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4595A-BDC7-32A2-D593-AF84E328E40F}"/>
              </a:ext>
            </a:extLst>
          </p:cNvPr>
          <p:cNvSpPr txBox="1"/>
          <p:nvPr/>
        </p:nvSpPr>
        <p:spPr>
          <a:xfrm>
            <a:off x="351501" y="3937662"/>
            <a:ext cx="62459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Hand Sanitizer is the top revenue generator (₹27,788), followed by Biscuits (₹20,996), Moong Dal (₹19,695), Toothpaste (₹19,689), and Mustard Seeds (₹19,517).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Pasta and Yogurt sit at the bottom (under ₹1,700 each), showing a wide revenue gap between top and bottom performers in the </a:t>
            </a:r>
            <a:r>
              <a:rPr lang="en-IN" dirty="0" err="1"/>
              <a:t>catalog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2944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D50D79-39FC-58CB-AD1B-48ED63845EBF}"/>
              </a:ext>
            </a:extLst>
          </p:cNvPr>
          <p:cNvSpPr txBox="1"/>
          <p:nvPr/>
        </p:nvSpPr>
        <p:spPr>
          <a:xfrm>
            <a:off x="535857" y="398206"/>
            <a:ext cx="8804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5.Monthly Trends: Orders &amp; Revenue (Fixed)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B9BA35-AF40-3456-82C7-C1DD5EB10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26" y="1623304"/>
            <a:ext cx="4397121" cy="29034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DBD3E3-B07D-97B9-C7ED-42E27F4D5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050" y="1825846"/>
            <a:ext cx="3657917" cy="12968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A977FA-39DA-D7D4-449F-43DC3B580B7C}"/>
              </a:ext>
            </a:extLst>
          </p:cNvPr>
          <p:cNvSpPr txBox="1"/>
          <p:nvPr/>
        </p:nvSpPr>
        <p:spPr>
          <a:xfrm>
            <a:off x="705980" y="1112026"/>
            <a:ext cx="2558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Query</a:t>
            </a:r>
            <a:endParaRPr lang="en-IN" sz="20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F3EC28-477E-6C57-78CA-7EFF908EBAFD}"/>
              </a:ext>
            </a:extLst>
          </p:cNvPr>
          <p:cNvSpPr txBox="1"/>
          <p:nvPr/>
        </p:nvSpPr>
        <p:spPr>
          <a:xfrm>
            <a:off x="6386050" y="1112026"/>
            <a:ext cx="2325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Output</a:t>
            </a:r>
            <a:endParaRPr lang="en-IN" sz="20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B7FD5-C13B-A4A0-0353-C7319315CD89}"/>
              </a:ext>
            </a:extLst>
          </p:cNvPr>
          <p:cNvSpPr txBox="1"/>
          <p:nvPr/>
        </p:nvSpPr>
        <p:spPr>
          <a:xfrm>
            <a:off x="5668297" y="3834278"/>
            <a:ext cx="57961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January is the strongest month with 35 orders and ₹70,312 in revenue, while orders dip noticeably in April, June, and October.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Revenue recovers by December (34 orders, ₹60,903), suggesting a seasonal pattern useful for planning promotions and stock levels around low and peak months.</a:t>
            </a:r>
          </a:p>
        </p:txBody>
      </p:sp>
    </p:spTree>
    <p:extLst>
      <p:ext uri="{BB962C8B-B14F-4D97-AF65-F5344CB8AC3E}">
        <p14:creationId xmlns:p14="http://schemas.microsoft.com/office/powerpoint/2010/main" val="293812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1642A-0279-486F-B583-B219534B819E}"/>
              </a:ext>
            </a:extLst>
          </p:cNvPr>
          <p:cNvSpPr txBox="1"/>
          <p:nvPr/>
        </p:nvSpPr>
        <p:spPr>
          <a:xfrm>
            <a:off x="732502" y="467032"/>
            <a:ext cx="7497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6.Suppliers contributing most to revenue</a:t>
            </a:r>
            <a:endParaRPr lang="en-IN" sz="2000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A59AA5-9491-A712-C022-A7DE0DEE4341}"/>
              </a:ext>
            </a:extLst>
          </p:cNvPr>
          <p:cNvSpPr txBox="1"/>
          <p:nvPr/>
        </p:nvSpPr>
        <p:spPr>
          <a:xfrm>
            <a:off x="1007807" y="1391264"/>
            <a:ext cx="2551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Query</a:t>
            </a:r>
            <a:endParaRPr lang="en-IN" sz="20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39423-3417-85BC-19EE-7F19A61CC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3" y="2021467"/>
            <a:ext cx="4595767" cy="1773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753346-2626-2D62-34E2-B62E24AFD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566" y="2181652"/>
            <a:ext cx="3937691" cy="20038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3B860F-2512-4DEA-D7CC-EDD6FC82120E}"/>
              </a:ext>
            </a:extLst>
          </p:cNvPr>
          <p:cNvSpPr txBox="1"/>
          <p:nvPr/>
        </p:nvSpPr>
        <p:spPr>
          <a:xfrm>
            <a:off x="6149579" y="1391264"/>
            <a:ext cx="2551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Output</a:t>
            </a:r>
            <a:endParaRPr lang="en-IN" sz="2000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65ED3-0951-209F-357C-D93AE49775F4}"/>
              </a:ext>
            </a:extLst>
          </p:cNvPr>
          <p:cNvSpPr txBox="1"/>
          <p:nvPr/>
        </p:nvSpPr>
        <p:spPr>
          <a:xfrm>
            <a:off x="369523" y="4195361"/>
            <a:ext cx="570271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Aarya is the dominant supplier, generating ₹2,21,138 in revenue — more than double the second-highest supplier, Sai (₹1,13,589).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The lowest contributor, Aarav Sharma, brings in only ₹33,053, highlighting a heavy dependency on one or two key suppliers.</a:t>
            </a:r>
          </a:p>
        </p:txBody>
      </p:sp>
    </p:spTree>
    <p:extLst>
      <p:ext uri="{BB962C8B-B14F-4D97-AF65-F5344CB8AC3E}">
        <p14:creationId xmlns:p14="http://schemas.microsoft.com/office/powerpoint/2010/main" val="2329738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2FD9A1-CE26-B016-319D-29BB0AAC16D2}"/>
              </a:ext>
            </a:extLst>
          </p:cNvPr>
          <p:cNvSpPr txBox="1"/>
          <p:nvPr/>
        </p:nvSpPr>
        <p:spPr>
          <a:xfrm>
            <a:off x="742335" y="457199"/>
            <a:ext cx="6975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7.Employee with most orders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68B38-E7DF-F996-C2F6-9ED9381A2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7" y="2038618"/>
            <a:ext cx="4176122" cy="16955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7A981D-2242-E061-C859-E84F0B375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281" y="1831267"/>
            <a:ext cx="2828281" cy="20328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F3EAC3-5F16-6065-A1C6-ED9A7A6582E3}"/>
              </a:ext>
            </a:extLst>
          </p:cNvPr>
          <p:cNvSpPr txBox="1"/>
          <p:nvPr/>
        </p:nvSpPr>
        <p:spPr>
          <a:xfrm>
            <a:off x="889818" y="1233947"/>
            <a:ext cx="2217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Query</a:t>
            </a:r>
            <a:endParaRPr lang="en-IN" sz="20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CE0C9-157B-012C-C229-1AE7B6019FB1}"/>
              </a:ext>
            </a:extLst>
          </p:cNvPr>
          <p:cNvSpPr txBox="1"/>
          <p:nvPr/>
        </p:nvSpPr>
        <p:spPr>
          <a:xfrm>
            <a:off x="6867835" y="1205015"/>
            <a:ext cx="2217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Output</a:t>
            </a:r>
            <a:endParaRPr lang="en-IN" sz="20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0F4D3-8EB5-CF1C-AFA8-DC9A96042AD7}"/>
              </a:ext>
            </a:extLst>
          </p:cNvPr>
          <p:cNvSpPr txBox="1"/>
          <p:nvPr/>
        </p:nvSpPr>
        <p:spPr>
          <a:xfrm>
            <a:off x="285134" y="3864077"/>
            <a:ext cx="55060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Diya Sharma handled the most orders (38), followed closely by Aditya Singh (37) and Arjun Kumar (32).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The top 4 employees are tightly clustered (31–38 orders), reflecting a strong, consistently performing core team rather than one standout outlier.</a:t>
            </a:r>
          </a:p>
        </p:txBody>
      </p:sp>
    </p:spTree>
    <p:extLst>
      <p:ext uri="{BB962C8B-B14F-4D97-AF65-F5344CB8AC3E}">
        <p14:creationId xmlns:p14="http://schemas.microsoft.com/office/powerpoint/2010/main" val="3280622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BA5899-54B3-3150-C786-DC78A9CCB1E7}"/>
              </a:ext>
            </a:extLst>
          </p:cNvPr>
          <p:cNvSpPr txBox="1"/>
          <p:nvPr/>
        </p:nvSpPr>
        <p:spPr>
          <a:xfrm>
            <a:off x="722670" y="718233"/>
            <a:ext cx="6582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8.Total sales value processed by employee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9D7678-5F63-0F32-C8BD-91EC8EE1A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87" y="2428567"/>
            <a:ext cx="4320914" cy="17473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C06D67-4F89-1EDD-43D9-C840C51C9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036" y="2217196"/>
            <a:ext cx="2507725" cy="2170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56055F-D76E-E113-80D3-F79A1CCD2543}"/>
              </a:ext>
            </a:extLst>
          </p:cNvPr>
          <p:cNvSpPr txBox="1"/>
          <p:nvPr/>
        </p:nvSpPr>
        <p:spPr>
          <a:xfrm>
            <a:off x="914398" y="1643866"/>
            <a:ext cx="2517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Query</a:t>
            </a:r>
            <a:endParaRPr lang="en-IN" sz="20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B982F-41C5-3982-E344-7A887AB0B446}"/>
              </a:ext>
            </a:extLst>
          </p:cNvPr>
          <p:cNvSpPr txBox="1"/>
          <p:nvPr/>
        </p:nvSpPr>
        <p:spPr>
          <a:xfrm>
            <a:off x="6189405" y="1467714"/>
            <a:ext cx="2231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Output</a:t>
            </a:r>
            <a:endParaRPr lang="en-IN" sz="20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5E5501-76A4-9616-E977-86851DB82A40}"/>
              </a:ext>
            </a:extLst>
          </p:cNvPr>
          <p:cNvSpPr txBox="1"/>
          <p:nvPr/>
        </p:nvSpPr>
        <p:spPr>
          <a:xfrm>
            <a:off x="457197" y="4267779"/>
            <a:ext cx="57322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Aditya Singh processed the highest sales value overall (₹79,252), followed by Zara Verma (₹71,563) and Diya Sharma (₹67,242).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Interestingly, Diya Sharma handled the most orders but ranks third in sales value — showing order count and revenue impact don't always move together per employee.</a:t>
            </a:r>
          </a:p>
        </p:txBody>
      </p:sp>
    </p:spTree>
    <p:extLst>
      <p:ext uri="{BB962C8B-B14F-4D97-AF65-F5344CB8AC3E}">
        <p14:creationId xmlns:p14="http://schemas.microsoft.com/office/powerpoint/2010/main" val="1949610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927F6B-5C3C-42E3-79BB-B14F1AD31A83}"/>
              </a:ext>
            </a:extLst>
          </p:cNvPr>
          <p:cNvSpPr txBox="1"/>
          <p:nvPr/>
        </p:nvSpPr>
        <p:spPr>
          <a:xfrm>
            <a:off x="506360" y="604683"/>
            <a:ext cx="8116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9.Average price per supplier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B9A613-4D43-2A74-8F6B-7E1C4E989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03" y="2408904"/>
            <a:ext cx="4293179" cy="17433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9934DA-47E2-3436-8FF1-AB5ED92DD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021" y="2123769"/>
            <a:ext cx="2517320" cy="21449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4BC373-3F26-9048-1844-0317CAE639EC}"/>
              </a:ext>
            </a:extLst>
          </p:cNvPr>
          <p:cNvSpPr txBox="1"/>
          <p:nvPr/>
        </p:nvSpPr>
        <p:spPr>
          <a:xfrm>
            <a:off x="801328" y="1506793"/>
            <a:ext cx="2689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Query</a:t>
            </a:r>
            <a:endParaRPr lang="en-IN" sz="20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B65D29-64DE-8743-C493-E321203385F1}"/>
              </a:ext>
            </a:extLst>
          </p:cNvPr>
          <p:cNvSpPr txBox="1"/>
          <p:nvPr/>
        </p:nvSpPr>
        <p:spPr>
          <a:xfrm>
            <a:off x="6208807" y="1411881"/>
            <a:ext cx="1774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Output</a:t>
            </a:r>
            <a:endParaRPr lang="en-IN" sz="20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59D08-13F4-F9E3-9B55-D8A080F295B3}"/>
              </a:ext>
            </a:extLst>
          </p:cNvPr>
          <p:cNvSpPr txBox="1"/>
          <p:nvPr/>
        </p:nvSpPr>
        <p:spPr>
          <a:xfrm>
            <a:off x="363792" y="4475185"/>
            <a:ext cx="558472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Sai supplies the highest-priced products on average (₹342.67), while Aarav Sharma's products are the most affordably priced (₹271.37).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This roughly ₹71 gap suggests suppliers are positioned differently — some toward premium pricing, others toward budget-friendly volume products.</a:t>
            </a:r>
          </a:p>
        </p:txBody>
      </p:sp>
    </p:spTree>
    <p:extLst>
      <p:ext uri="{BB962C8B-B14F-4D97-AF65-F5344CB8AC3E}">
        <p14:creationId xmlns:p14="http://schemas.microsoft.com/office/powerpoint/2010/main" val="2528528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C4941A-7DF2-99C9-BE32-9335B34585DC}"/>
              </a:ext>
            </a:extLst>
          </p:cNvPr>
          <p:cNvSpPr txBox="1"/>
          <p:nvPr/>
        </p:nvSpPr>
        <p:spPr>
          <a:xfrm>
            <a:off x="929147" y="299884"/>
            <a:ext cx="7497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10.Average quantity ordered per product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6FEB3-0676-0C96-0CFD-0F96BD549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95" y="1976284"/>
            <a:ext cx="4852046" cy="18976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D4C6BC-A3F1-DD13-24A7-0B38496F6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262" y="1667407"/>
            <a:ext cx="2537066" cy="20983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F6F90F-329E-BD29-F8BB-4DB998B0E3CA}"/>
              </a:ext>
            </a:extLst>
          </p:cNvPr>
          <p:cNvSpPr txBox="1"/>
          <p:nvPr/>
        </p:nvSpPr>
        <p:spPr>
          <a:xfrm>
            <a:off x="757082" y="1267297"/>
            <a:ext cx="3923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Query</a:t>
            </a:r>
            <a:endParaRPr lang="en-IN" sz="20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41D97-346A-E5AD-7F38-9FDDF0613C4D}"/>
              </a:ext>
            </a:extLst>
          </p:cNvPr>
          <p:cNvSpPr txBox="1"/>
          <p:nvPr/>
        </p:nvSpPr>
        <p:spPr>
          <a:xfrm>
            <a:off x="6784261" y="1267297"/>
            <a:ext cx="2772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Output</a:t>
            </a:r>
            <a:endParaRPr lang="en-IN" sz="20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068D6B-8BD2-E27E-C257-3CC306BC9D3A}"/>
              </a:ext>
            </a:extLst>
          </p:cNvPr>
          <p:cNvSpPr txBox="1"/>
          <p:nvPr/>
        </p:nvSpPr>
        <p:spPr>
          <a:xfrm>
            <a:off x="292595" y="4421152"/>
            <a:ext cx="66515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Butter has the highest average order quantity (4.56 units per order), followed by Toothpaste (3.67) and Potato Chips (3.6).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Soybean Oil has the lowest average quantity per order (1.64), suggesting it's a low-volume, top-up purchase rather than a bulk-buy item.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BA5C96-FA66-7EC3-FD0C-E0D9495AD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1190028"/>
            <a:ext cx="8032955" cy="5667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A9A9BB-953E-0A74-042A-DCB6E1707150}"/>
              </a:ext>
            </a:extLst>
          </p:cNvPr>
          <p:cNvSpPr txBox="1"/>
          <p:nvPr/>
        </p:nvSpPr>
        <p:spPr>
          <a:xfrm flipH="1">
            <a:off x="705841" y="422787"/>
            <a:ext cx="3217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ER Diagram</a:t>
            </a:r>
            <a:endParaRPr lang="en-IN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9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BA6797-ECEC-5099-A40A-B963F2D23D9B}"/>
              </a:ext>
            </a:extLst>
          </p:cNvPr>
          <p:cNvSpPr txBox="1"/>
          <p:nvPr/>
        </p:nvSpPr>
        <p:spPr>
          <a:xfrm>
            <a:off x="909484" y="388374"/>
            <a:ext cx="4036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Insights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6159D4-3695-8AE8-7DA0-0601FBAC5143}"/>
              </a:ext>
            </a:extLst>
          </p:cNvPr>
          <p:cNvSpPr txBox="1"/>
          <p:nvPr/>
        </p:nvSpPr>
        <p:spPr>
          <a:xfrm>
            <a:off x="437535" y="1381432"/>
            <a:ext cx="102697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The store generated </a:t>
            </a:r>
            <a:r>
              <a:rPr lang="en-IN" sz="2000" b="1" dirty="0"/>
              <a:t>₹5,51,330</a:t>
            </a:r>
            <a:r>
              <a:rPr lang="en-IN" sz="2000" dirty="0"/>
              <a:t> in revenue from </a:t>
            </a:r>
            <a:r>
              <a:rPr lang="en-IN" sz="2000" b="1" dirty="0"/>
              <a:t>300 orders</a:t>
            </a:r>
            <a:r>
              <a:rPr lang="en-IN" sz="2000" dirty="0"/>
              <a:t> across </a:t>
            </a:r>
            <a:r>
              <a:rPr lang="en-IN" sz="2000" b="1" dirty="0"/>
              <a:t>156 customers</a:t>
            </a:r>
            <a:r>
              <a:rPr lang="en-IN" sz="2000" dirty="0"/>
              <a:t>, with an average order value of </a:t>
            </a:r>
            <a:r>
              <a:rPr lang="en-IN" sz="2000" b="1" dirty="0"/>
              <a:t>₹2,153.63</a:t>
            </a:r>
            <a:r>
              <a:rPr lang="en-IN" sz="2000" dirty="0"/>
              <a:t>.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Jyotika</a:t>
            </a:r>
            <a:r>
              <a:rPr lang="en-IN" sz="2000" dirty="0"/>
              <a:t> is the most loyal customer (7 orders), while </a:t>
            </a:r>
            <a:r>
              <a:rPr lang="en-IN" sz="2000" b="1" dirty="0"/>
              <a:t>Hand Sanitizer</a:t>
            </a:r>
            <a:r>
              <a:rPr lang="en-IN" sz="2000" dirty="0"/>
              <a:t> is the top-selling product by revenue (₹27,788).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Grains &amp; Cereals</a:t>
            </a:r>
            <a:r>
              <a:rPr lang="en-IN" sz="2000" dirty="0"/>
              <a:t> and </a:t>
            </a:r>
            <a:r>
              <a:rPr lang="en-IN" sz="2000" b="1" dirty="0"/>
              <a:t>Snacks &amp; Confectioneries</a:t>
            </a:r>
            <a:r>
              <a:rPr lang="en-IN" sz="2000" dirty="0"/>
              <a:t> dominate the </a:t>
            </a:r>
            <a:r>
              <a:rPr lang="en-IN" sz="2000" dirty="0" err="1"/>
              <a:t>catalog</a:t>
            </a:r>
            <a:r>
              <a:rPr lang="en-IN" sz="2000" dirty="0"/>
              <a:t>, while </a:t>
            </a:r>
            <a:r>
              <a:rPr lang="en-IN" sz="2000" b="1" dirty="0"/>
              <a:t>Household</a:t>
            </a:r>
            <a:r>
              <a:rPr lang="en-IN" sz="2000" dirty="0"/>
              <a:t> remains a thin, under-expanded category.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Revenue is heavily concentrated in one supplier (</a:t>
            </a:r>
            <a:r>
              <a:rPr lang="en-IN" sz="2000" b="1" dirty="0"/>
              <a:t>Aarya</a:t>
            </a:r>
            <a:r>
              <a:rPr lang="en-IN" sz="2000" dirty="0"/>
              <a:t>, contributing over 2x the next-highest supplier), </a:t>
            </a:r>
            <a:r>
              <a:rPr lang="en-IN" sz="2000" dirty="0" err="1"/>
              <a:t>signaling</a:t>
            </a:r>
            <a:r>
              <a:rPr lang="en-IN" sz="2000" dirty="0"/>
              <a:t> a dependency risk.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Aditya Singh</a:t>
            </a:r>
            <a:r>
              <a:rPr lang="en-IN" sz="2000" dirty="0"/>
              <a:t> leads in sales value processed, though </a:t>
            </a:r>
            <a:r>
              <a:rPr lang="en-IN" sz="2000" b="1" dirty="0"/>
              <a:t>Diya Sharma</a:t>
            </a:r>
            <a:r>
              <a:rPr lang="en-IN" sz="2000" dirty="0"/>
              <a:t> handled the most individual orders — showing value and volume don't always align.</a:t>
            </a:r>
          </a:p>
        </p:txBody>
      </p:sp>
    </p:spTree>
    <p:extLst>
      <p:ext uri="{BB962C8B-B14F-4D97-AF65-F5344CB8AC3E}">
        <p14:creationId xmlns:p14="http://schemas.microsoft.com/office/powerpoint/2010/main" val="1287876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26C5A4-3C6D-1789-DFF3-DE8876865155}"/>
              </a:ext>
            </a:extLst>
          </p:cNvPr>
          <p:cNvSpPr txBox="1"/>
          <p:nvPr/>
        </p:nvSpPr>
        <p:spPr>
          <a:xfrm>
            <a:off x="644013" y="152399"/>
            <a:ext cx="4173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Conclusion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490EC4-E243-9A71-5798-EA3A7D2E7061}"/>
              </a:ext>
            </a:extLst>
          </p:cNvPr>
          <p:cNvSpPr txBox="1"/>
          <p:nvPr/>
        </p:nvSpPr>
        <p:spPr>
          <a:xfrm>
            <a:off x="250722" y="860285"/>
            <a:ext cx="1172496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Overall business performance is healthy, with </a:t>
            </a:r>
            <a:r>
              <a:rPr lang="en-IN" sz="2000" b="1" dirty="0"/>
              <a:t>₹5,51,330</a:t>
            </a:r>
            <a:r>
              <a:rPr lang="en-IN" sz="2000" dirty="0"/>
              <a:t> in revenue across 300 orders, but growth is concentrated in a few customers, products, and suppliers rather than spread evenly.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Strengthen loyalty programs around repeat customers like </a:t>
            </a:r>
            <a:r>
              <a:rPr lang="en-IN" sz="2000" b="1" dirty="0"/>
              <a:t>Jyotika</a:t>
            </a:r>
            <a:r>
              <a:rPr lang="en-IN" sz="2000" dirty="0"/>
              <a:t> and top spenders, since a small customer base is driving a disproportionate share of orders.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Focus inventory and marketing on proven top-sellers like </a:t>
            </a:r>
            <a:r>
              <a:rPr lang="en-IN" sz="2000" b="1" dirty="0"/>
              <a:t>Hand Sanitizer</a:t>
            </a:r>
            <a:r>
              <a:rPr lang="en-IN" sz="2000" dirty="0"/>
              <a:t>, </a:t>
            </a:r>
            <a:r>
              <a:rPr lang="en-IN" sz="2000" b="1" dirty="0"/>
              <a:t>Biscuits</a:t>
            </a:r>
            <a:r>
              <a:rPr lang="en-IN" sz="2000" dirty="0"/>
              <a:t>, and </a:t>
            </a:r>
            <a:r>
              <a:rPr lang="en-IN" sz="2000" b="1" dirty="0"/>
              <a:t>Moong Dal</a:t>
            </a:r>
            <a:r>
              <a:rPr lang="en-IN" sz="2000" dirty="0"/>
              <a:t>, while considering expansion of the underdeveloped </a:t>
            </a:r>
            <a:r>
              <a:rPr lang="en-IN" sz="2000" b="1" dirty="0"/>
              <a:t>Household</a:t>
            </a:r>
            <a:r>
              <a:rPr lang="en-IN" sz="2000" dirty="0"/>
              <a:t> category.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Reduce reliance on a single dominant supplier (</a:t>
            </a:r>
            <a:r>
              <a:rPr lang="en-IN" sz="2000" b="1" dirty="0"/>
              <a:t>Aarya</a:t>
            </a:r>
            <a:r>
              <a:rPr lang="en-IN" sz="2000" dirty="0"/>
              <a:t>) by diversifying sourcing, to safeguard against supply disruptions.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Recognize and replicate high-performing employee patterns (e.g., </a:t>
            </a:r>
            <a:r>
              <a:rPr lang="en-IN" sz="2000" b="1" dirty="0"/>
              <a:t>Aditya Singh</a:t>
            </a:r>
            <a:r>
              <a:rPr lang="en-IN" sz="2000" dirty="0"/>
              <a:t>, </a:t>
            </a:r>
            <a:r>
              <a:rPr lang="en-IN" sz="2000" b="1" dirty="0"/>
              <a:t>Diya Sharma</a:t>
            </a:r>
            <a:r>
              <a:rPr lang="en-IN" sz="2000" dirty="0"/>
              <a:t>) through training or incentive alignment across the team.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Plan staffing, inventory, and promotions around the seasonal dip (April–October) and the </a:t>
            </a:r>
            <a:r>
              <a:rPr lang="en-IN" sz="2000" b="1" dirty="0"/>
              <a:t>January</a:t>
            </a:r>
            <a:r>
              <a:rPr lang="en-IN" sz="2000" dirty="0"/>
              <a:t>/</a:t>
            </a:r>
            <a:r>
              <a:rPr lang="en-IN" sz="2000" b="1" dirty="0"/>
              <a:t>December</a:t>
            </a:r>
            <a:r>
              <a:rPr lang="en-IN" sz="2000" dirty="0"/>
              <a:t> peaks to smooth out revenue fluctuations.</a:t>
            </a:r>
          </a:p>
        </p:txBody>
      </p:sp>
    </p:spTree>
    <p:extLst>
      <p:ext uri="{BB962C8B-B14F-4D97-AF65-F5344CB8AC3E}">
        <p14:creationId xmlns:p14="http://schemas.microsoft.com/office/powerpoint/2010/main" val="3571171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975</Words>
  <Application>Microsoft Office PowerPoint</Application>
  <PresentationFormat>Widescreen</PresentationFormat>
  <Paragraphs>111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Wingdings</vt:lpstr>
      <vt:lpstr>Libre Baskerville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1.Which customers have placed the highest number of orders?</vt:lpstr>
      <vt:lpstr>2.Total and Average Purchase value per customer?</vt:lpstr>
      <vt:lpstr>3.Highest Sales Volume (by quantity)</vt:lpstr>
      <vt:lpstr>4.Total revenue generated by each product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abidhshaik7861@gmail.com</cp:lastModifiedBy>
  <cp:revision>8</cp:revision>
  <dcterms:created xsi:type="dcterms:W3CDTF">2021-02-16T05:19:01Z</dcterms:created>
  <dcterms:modified xsi:type="dcterms:W3CDTF">2026-08-14T10:11:37Z</dcterms:modified>
</cp:coreProperties>
</file>